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6" r:id="rId17"/>
    <p:sldId id="267" r:id="rId18"/>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8" r:id="rId259"/>
    <p:sldId id="509" r:id="rId2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 Id="rId124" Type="http://schemas.openxmlformats.org/officeDocument/2006/relationships/slide" Target="slides/slide114.xml"/><Relationship Id="rId125" Type="http://schemas.openxmlformats.org/officeDocument/2006/relationships/slide" Target="slides/slide115.xml"/><Relationship Id="rId126" Type="http://schemas.openxmlformats.org/officeDocument/2006/relationships/slide" Target="slides/slide116.xml"/><Relationship Id="rId127" Type="http://schemas.openxmlformats.org/officeDocument/2006/relationships/slide" Target="slides/slide117.xml"/><Relationship Id="rId128" Type="http://schemas.openxmlformats.org/officeDocument/2006/relationships/slide" Target="slides/slide118.xml"/><Relationship Id="rId129" Type="http://schemas.openxmlformats.org/officeDocument/2006/relationships/slide" Target="slides/slide119.xml"/><Relationship Id="rId130" Type="http://schemas.openxmlformats.org/officeDocument/2006/relationships/slide" Target="slides/slide120.xml"/><Relationship Id="rId131" Type="http://schemas.openxmlformats.org/officeDocument/2006/relationships/slide" Target="slides/slide121.xml"/><Relationship Id="rId132" Type="http://schemas.openxmlformats.org/officeDocument/2006/relationships/slide" Target="slides/slide122.xml"/><Relationship Id="rId133" Type="http://schemas.openxmlformats.org/officeDocument/2006/relationships/slide" Target="slides/slide123.xml"/><Relationship Id="rId134" Type="http://schemas.openxmlformats.org/officeDocument/2006/relationships/slide" Target="slides/slide124.xml"/><Relationship Id="rId135" Type="http://schemas.openxmlformats.org/officeDocument/2006/relationships/slide" Target="slides/slide125.xml"/><Relationship Id="rId136" Type="http://schemas.openxmlformats.org/officeDocument/2006/relationships/slide" Target="slides/slide126.xml"/><Relationship Id="rId137" Type="http://schemas.openxmlformats.org/officeDocument/2006/relationships/slide" Target="slides/slide127.xml"/><Relationship Id="rId138" Type="http://schemas.openxmlformats.org/officeDocument/2006/relationships/slide" Target="slides/slide128.xml"/><Relationship Id="rId139" Type="http://schemas.openxmlformats.org/officeDocument/2006/relationships/slide" Target="slides/slide129.xml"/><Relationship Id="rId140" Type="http://schemas.openxmlformats.org/officeDocument/2006/relationships/slide" Target="slides/slide130.xml"/><Relationship Id="rId141" Type="http://schemas.openxmlformats.org/officeDocument/2006/relationships/slide" Target="slides/slide131.xml"/><Relationship Id="rId142" Type="http://schemas.openxmlformats.org/officeDocument/2006/relationships/slide" Target="slides/slide132.xml"/><Relationship Id="rId143" Type="http://schemas.openxmlformats.org/officeDocument/2006/relationships/slide" Target="slides/slide133.xml"/><Relationship Id="rId144" Type="http://schemas.openxmlformats.org/officeDocument/2006/relationships/slide" Target="slides/slide134.xml"/><Relationship Id="rId145" Type="http://schemas.openxmlformats.org/officeDocument/2006/relationships/slide" Target="slides/slide135.xml"/><Relationship Id="rId146" Type="http://schemas.openxmlformats.org/officeDocument/2006/relationships/slide" Target="slides/slide136.xml"/><Relationship Id="rId147" Type="http://schemas.openxmlformats.org/officeDocument/2006/relationships/slide" Target="slides/slide137.xml"/><Relationship Id="rId148" Type="http://schemas.openxmlformats.org/officeDocument/2006/relationships/slide" Target="slides/slide138.xml"/><Relationship Id="rId149" Type="http://schemas.openxmlformats.org/officeDocument/2006/relationships/slide" Target="slides/slide139.xml"/><Relationship Id="rId150" Type="http://schemas.openxmlformats.org/officeDocument/2006/relationships/slide" Target="slides/slide140.xml"/><Relationship Id="rId151" Type="http://schemas.openxmlformats.org/officeDocument/2006/relationships/slide" Target="slides/slide141.xml"/><Relationship Id="rId152" Type="http://schemas.openxmlformats.org/officeDocument/2006/relationships/slide" Target="slides/slide142.xml"/><Relationship Id="rId153" Type="http://schemas.openxmlformats.org/officeDocument/2006/relationships/slide" Target="slides/slide143.xml"/><Relationship Id="rId154" Type="http://schemas.openxmlformats.org/officeDocument/2006/relationships/slide" Target="slides/slide144.xml"/><Relationship Id="rId155" Type="http://schemas.openxmlformats.org/officeDocument/2006/relationships/slide" Target="slides/slide145.xml"/><Relationship Id="rId156" Type="http://schemas.openxmlformats.org/officeDocument/2006/relationships/slide" Target="slides/slide146.xml"/><Relationship Id="rId157" Type="http://schemas.openxmlformats.org/officeDocument/2006/relationships/slide" Target="slides/slide147.xml"/><Relationship Id="rId158" Type="http://schemas.openxmlformats.org/officeDocument/2006/relationships/slide" Target="slides/slide148.xml"/><Relationship Id="rId159" Type="http://schemas.openxmlformats.org/officeDocument/2006/relationships/slide" Target="slides/slide149.xml"/><Relationship Id="rId160" Type="http://schemas.openxmlformats.org/officeDocument/2006/relationships/slide" Target="slides/slide150.xml"/><Relationship Id="rId161" Type="http://schemas.openxmlformats.org/officeDocument/2006/relationships/slide" Target="slides/slide151.xml"/><Relationship Id="rId162" Type="http://schemas.openxmlformats.org/officeDocument/2006/relationships/slide" Target="slides/slide152.xml"/><Relationship Id="rId163" Type="http://schemas.openxmlformats.org/officeDocument/2006/relationships/slide" Target="slides/slide153.xml"/><Relationship Id="rId164" Type="http://schemas.openxmlformats.org/officeDocument/2006/relationships/slide" Target="slides/slide154.xml"/><Relationship Id="rId165" Type="http://schemas.openxmlformats.org/officeDocument/2006/relationships/slide" Target="slides/slide155.xml"/><Relationship Id="rId166" Type="http://schemas.openxmlformats.org/officeDocument/2006/relationships/slide" Target="slides/slide156.xml"/><Relationship Id="rId167" Type="http://schemas.openxmlformats.org/officeDocument/2006/relationships/slide" Target="slides/slide157.xml"/><Relationship Id="rId168" Type="http://schemas.openxmlformats.org/officeDocument/2006/relationships/slide" Target="slides/slide158.xml"/><Relationship Id="rId169" Type="http://schemas.openxmlformats.org/officeDocument/2006/relationships/slide" Target="slides/slide159.xml"/><Relationship Id="rId170" Type="http://schemas.openxmlformats.org/officeDocument/2006/relationships/slide" Target="slides/slide160.xml"/><Relationship Id="rId171" Type="http://schemas.openxmlformats.org/officeDocument/2006/relationships/slide" Target="slides/slide161.xml"/><Relationship Id="rId172" Type="http://schemas.openxmlformats.org/officeDocument/2006/relationships/slide" Target="slides/slide162.xml"/><Relationship Id="rId173" Type="http://schemas.openxmlformats.org/officeDocument/2006/relationships/slide" Target="slides/slide163.xml"/><Relationship Id="rId174" Type="http://schemas.openxmlformats.org/officeDocument/2006/relationships/slide" Target="slides/slide164.xml"/><Relationship Id="rId175" Type="http://schemas.openxmlformats.org/officeDocument/2006/relationships/slide" Target="slides/slide165.xml"/><Relationship Id="rId176" Type="http://schemas.openxmlformats.org/officeDocument/2006/relationships/slide" Target="slides/slide166.xml"/><Relationship Id="rId177" Type="http://schemas.openxmlformats.org/officeDocument/2006/relationships/slide" Target="slides/slide167.xml"/><Relationship Id="rId178" Type="http://schemas.openxmlformats.org/officeDocument/2006/relationships/slide" Target="slides/slide168.xml"/><Relationship Id="rId179" Type="http://schemas.openxmlformats.org/officeDocument/2006/relationships/slide" Target="slides/slide169.xml"/><Relationship Id="rId180" Type="http://schemas.openxmlformats.org/officeDocument/2006/relationships/slide" Target="slides/slide170.xml"/><Relationship Id="rId181" Type="http://schemas.openxmlformats.org/officeDocument/2006/relationships/slide" Target="slides/slide171.xml"/><Relationship Id="rId182" Type="http://schemas.openxmlformats.org/officeDocument/2006/relationships/slide" Target="slides/slide172.xml"/><Relationship Id="rId183" Type="http://schemas.openxmlformats.org/officeDocument/2006/relationships/slide" Target="slides/slide173.xml"/><Relationship Id="rId184" Type="http://schemas.openxmlformats.org/officeDocument/2006/relationships/slide" Target="slides/slide174.xml"/><Relationship Id="rId185" Type="http://schemas.openxmlformats.org/officeDocument/2006/relationships/slide" Target="slides/slide175.xml"/><Relationship Id="rId186" Type="http://schemas.openxmlformats.org/officeDocument/2006/relationships/slide" Target="slides/slide176.xml"/><Relationship Id="rId187" Type="http://schemas.openxmlformats.org/officeDocument/2006/relationships/slide" Target="slides/slide177.xml"/><Relationship Id="rId188" Type="http://schemas.openxmlformats.org/officeDocument/2006/relationships/slide" Target="slides/slide178.xml"/><Relationship Id="rId189" Type="http://schemas.openxmlformats.org/officeDocument/2006/relationships/slide" Target="slides/slide179.xml"/><Relationship Id="rId190" Type="http://schemas.openxmlformats.org/officeDocument/2006/relationships/slide" Target="slides/slide180.xml"/><Relationship Id="rId191" Type="http://schemas.openxmlformats.org/officeDocument/2006/relationships/slide" Target="slides/slide181.xml"/><Relationship Id="rId192" Type="http://schemas.openxmlformats.org/officeDocument/2006/relationships/slide" Target="slides/slide182.xml"/><Relationship Id="rId193" Type="http://schemas.openxmlformats.org/officeDocument/2006/relationships/slide" Target="slides/slide183.xml"/><Relationship Id="rId194" Type="http://schemas.openxmlformats.org/officeDocument/2006/relationships/slide" Target="slides/slide184.xml"/><Relationship Id="rId195" Type="http://schemas.openxmlformats.org/officeDocument/2006/relationships/slide" Target="slides/slide185.xml"/><Relationship Id="rId196" Type="http://schemas.openxmlformats.org/officeDocument/2006/relationships/slide" Target="slides/slide186.xml"/><Relationship Id="rId197" Type="http://schemas.openxmlformats.org/officeDocument/2006/relationships/slide" Target="slides/slide187.xml"/><Relationship Id="rId198" Type="http://schemas.openxmlformats.org/officeDocument/2006/relationships/slide" Target="slides/slide188.xml"/><Relationship Id="rId199" Type="http://schemas.openxmlformats.org/officeDocument/2006/relationships/slide" Target="slides/slide189.xml"/><Relationship Id="rId200" Type="http://schemas.openxmlformats.org/officeDocument/2006/relationships/slide" Target="slides/slide190.xml"/><Relationship Id="rId201" Type="http://schemas.openxmlformats.org/officeDocument/2006/relationships/slide" Target="slides/slide191.xml"/><Relationship Id="rId202" Type="http://schemas.openxmlformats.org/officeDocument/2006/relationships/slide" Target="slides/slide192.xml"/><Relationship Id="rId203" Type="http://schemas.openxmlformats.org/officeDocument/2006/relationships/slide" Target="slides/slide193.xml"/><Relationship Id="rId204" Type="http://schemas.openxmlformats.org/officeDocument/2006/relationships/slide" Target="slides/slide194.xml"/><Relationship Id="rId205" Type="http://schemas.openxmlformats.org/officeDocument/2006/relationships/slide" Target="slides/slide195.xml"/><Relationship Id="rId206" Type="http://schemas.openxmlformats.org/officeDocument/2006/relationships/slide" Target="slides/slide196.xml"/><Relationship Id="rId207" Type="http://schemas.openxmlformats.org/officeDocument/2006/relationships/slide" Target="slides/slide197.xml"/><Relationship Id="rId208" Type="http://schemas.openxmlformats.org/officeDocument/2006/relationships/slide" Target="slides/slide198.xml"/><Relationship Id="rId209" Type="http://schemas.openxmlformats.org/officeDocument/2006/relationships/slide" Target="slides/slide199.xml"/><Relationship Id="rId210" Type="http://schemas.openxmlformats.org/officeDocument/2006/relationships/slide" Target="slides/slide200.xml"/><Relationship Id="rId211" Type="http://schemas.openxmlformats.org/officeDocument/2006/relationships/slide" Target="slides/slide201.xml"/><Relationship Id="rId212" Type="http://schemas.openxmlformats.org/officeDocument/2006/relationships/slide" Target="slides/slide202.xml"/><Relationship Id="rId213" Type="http://schemas.openxmlformats.org/officeDocument/2006/relationships/slide" Target="slides/slide203.xml"/><Relationship Id="rId214" Type="http://schemas.openxmlformats.org/officeDocument/2006/relationships/slide" Target="slides/slide204.xml"/><Relationship Id="rId215" Type="http://schemas.openxmlformats.org/officeDocument/2006/relationships/slide" Target="slides/slide205.xml"/><Relationship Id="rId216" Type="http://schemas.openxmlformats.org/officeDocument/2006/relationships/slide" Target="slides/slide206.xml"/><Relationship Id="rId217" Type="http://schemas.openxmlformats.org/officeDocument/2006/relationships/slide" Target="slides/slide207.xml"/><Relationship Id="rId218" Type="http://schemas.openxmlformats.org/officeDocument/2006/relationships/slide" Target="slides/slide208.xml"/><Relationship Id="rId219" Type="http://schemas.openxmlformats.org/officeDocument/2006/relationships/slide" Target="slides/slide209.xml"/><Relationship Id="rId220" Type="http://schemas.openxmlformats.org/officeDocument/2006/relationships/slide" Target="slides/slide210.xml"/><Relationship Id="rId221" Type="http://schemas.openxmlformats.org/officeDocument/2006/relationships/slide" Target="slides/slide211.xml"/><Relationship Id="rId222" Type="http://schemas.openxmlformats.org/officeDocument/2006/relationships/slide" Target="slides/slide212.xml"/><Relationship Id="rId223" Type="http://schemas.openxmlformats.org/officeDocument/2006/relationships/slide" Target="slides/slide213.xml"/><Relationship Id="rId224" Type="http://schemas.openxmlformats.org/officeDocument/2006/relationships/slide" Target="slides/slide214.xml"/><Relationship Id="rId225" Type="http://schemas.openxmlformats.org/officeDocument/2006/relationships/slide" Target="slides/slide215.xml"/><Relationship Id="rId226" Type="http://schemas.openxmlformats.org/officeDocument/2006/relationships/slide" Target="slides/slide216.xml"/><Relationship Id="rId227" Type="http://schemas.openxmlformats.org/officeDocument/2006/relationships/slide" Target="slides/slide217.xml"/><Relationship Id="rId228" Type="http://schemas.openxmlformats.org/officeDocument/2006/relationships/slide" Target="slides/slide218.xml"/><Relationship Id="rId229" Type="http://schemas.openxmlformats.org/officeDocument/2006/relationships/slide" Target="slides/slide219.xml"/><Relationship Id="rId230" Type="http://schemas.openxmlformats.org/officeDocument/2006/relationships/slide" Target="slides/slide220.xml"/><Relationship Id="rId231" Type="http://schemas.openxmlformats.org/officeDocument/2006/relationships/slide" Target="slides/slide221.xml"/><Relationship Id="rId232" Type="http://schemas.openxmlformats.org/officeDocument/2006/relationships/slide" Target="slides/slide222.xml"/><Relationship Id="rId233" Type="http://schemas.openxmlformats.org/officeDocument/2006/relationships/slide" Target="slides/slide223.xml"/><Relationship Id="rId234" Type="http://schemas.openxmlformats.org/officeDocument/2006/relationships/slide" Target="slides/slide224.xml"/><Relationship Id="rId235" Type="http://schemas.openxmlformats.org/officeDocument/2006/relationships/slide" Target="slides/slide225.xml"/><Relationship Id="rId236" Type="http://schemas.openxmlformats.org/officeDocument/2006/relationships/slide" Target="slides/slide226.xml"/><Relationship Id="rId237" Type="http://schemas.openxmlformats.org/officeDocument/2006/relationships/slide" Target="slides/slide227.xml"/><Relationship Id="rId238" Type="http://schemas.openxmlformats.org/officeDocument/2006/relationships/slide" Target="slides/slide228.xml"/><Relationship Id="rId239" Type="http://schemas.openxmlformats.org/officeDocument/2006/relationships/slide" Target="slides/slide229.xml"/><Relationship Id="rId240" Type="http://schemas.openxmlformats.org/officeDocument/2006/relationships/slide" Target="slides/slide230.xml"/><Relationship Id="rId241" Type="http://schemas.openxmlformats.org/officeDocument/2006/relationships/slide" Target="slides/slide231.xml"/><Relationship Id="rId242" Type="http://schemas.openxmlformats.org/officeDocument/2006/relationships/slide" Target="slides/slide232.xml"/><Relationship Id="rId243" Type="http://schemas.openxmlformats.org/officeDocument/2006/relationships/slide" Target="slides/slide233.xml"/><Relationship Id="rId244" Type="http://schemas.openxmlformats.org/officeDocument/2006/relationships/slide" Target="slides/slide234.xml"/><Relationship Id="rId245" Type="http://schemas.openxmlformats.org/officeDocument/2006/relationships/slide" Target="slides/slide235.xml"/><Relationship Id="rId246" Type="http://schemas.openxmlformats.org/officeDocument/2006/relationships/slide" Target="slides/slide236.xml"/><Relationship Id="rId247" Type="http://schemas.openxmlformats.org/officeDocument/2006/relationships/slide" Target="slides/slide237.xml"/><Relationship Id="rId248" Type="http://schemas.openxmlformats.org/officeDocument/2006/relationships/slide" Target="slides/slide238.xml"/><Relationship Id="rId249" Type="http://schemas.openxmlformats.org/officeDocument/2006/relationships/slide" Target="slides/slide239.xml"/><Relationship Id="rId250" Type="http://schemas.openxmlformats.org/officeDocument/2006/relationships/slide" Target="slides/slide240.xml"/><Relationship Id="rId251" Type="http://schemas.openxmlformats.org/officeDocument/2006/relationships/slide" Target="slides/slide241.xml"/><Relationship Id="rId252" Type="http://schemas.openxmlformats.org/officeDocument/2006/relationships/slide" Target="slides/slide242.xml"/><Relationship Id="rId253" Type="http://schemas.openxmlformats.org/officeDocument/2006/relationships/slide" Target="slides/slide243.xml"/><Relationship Id="rId254" Type="http://schemas.openxmlformats.org/officeDocument/2006/relationships/slide" Target="slides/slide244.xml"/><Relationship Id="rId259" Type="http://schemas.openxmlformats.org/officeDocument/2006/relationships/slide" Target="slides/slide245.xml"/><Relationship Id="rId260" Type="http://schemas.openxmlformats.org/officeDocument/2006/relationships/slide" Target="slides/slide2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C524</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v6  ·  21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Attend fully — every topic builds on the previous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handy — you will use them in every lab</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Welcome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Lab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Labs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and Control</a:t>
            </a:r>
          </a:p>
          <a:p>
            <a:pPr>
              <a:spcAft>
                <a:spcPts val="1000"/>
              </a:spcAft>
            </a:pPr>
            <a:r>
              <a:rPr sz="1300">
                <a:solidFill>
                  <a:srgbClr val="5B6372"/>
                </a:solidFill>
                <a:latin typeface="Arial"/>
              </a:rPr>
              <a:t>–  Recap of Day 1</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Lab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Labs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Labs 9-10 · Revision · Course Wrap-up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Labs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Lab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Labs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Lab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Lab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YOU'LL LEARN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Approach</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Concept briefing — the theory explained with visuals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Worked example — see each tool applied step by step</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Hands-on lab — apply the tool to the Contoso scenario</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Verify — check your output against the lab checklist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Recap — consolidate before the next DMAIC phase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Lab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Lab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&amp;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&amp;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&amp;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&amp;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&amp;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lab work is checked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Lab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 — Lean, Six Sigma, Waste, VOC and Value</a:t>
            </a:r>
          </a:p>
          <a:p>
            <a:pPr algn="l">
              <a:spcAft>
                <a:spcPts val="300"/>
              </a:spcAft>
            </a:pPr>
            <a:r>
              <a:rPr sz="1100" b="0">
                <a:solidFill>
                  <a:srgbClr val="5B6372"/>
                </a:solidFill>
                <a:latin typeface="Arial"/>
              </a:rPr>
              <a:t>A VOC-to-CTQ translation table, a value-added analysis, and a waste walk log.</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3 — SIPOC, Process Mapping and Handoffs</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5 — DMAIC, Problem Statement and Scope </a:t>
            </a:r>
          </a:p>
          <a:p>
            <a:pPr algn="l">
              <a:spcAft>
                <a:spcPts val="300"/>
              </a:spcAft>
            </a:pPr>
            <a:r>
              <a:rPr sz="1100" b="0">
                <a:solidFill>
                  <a:srgbClr val="5B6372"/>
                </a:solidFill>
                <a:latin typeface="Arial"/>
              </a:rPr>
              <a:t>A DMAIC phase table, refined problem statement, stakeholder map and benefit estimate.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4 (elective) — PDCA Small Improvement Project Charter</a:t>
            </a:r>
          </a:p>
          <a:p>
            <a:pPr algn="l">
              <a:spcAft>
                <a:spcPts val="300"/>
              </a:spcAft>
            </a:pPr>
            <a:r>
              <a:rPr sz="1100" b="0">
                <a:solidFill>
                  <a:srgbClr val="5B6372"/>
                </a:solidFill>
                <a:latin typeface="Arial"/>
              </a:rPr>
              <a:t>A one-page PDCA charter with problem statement, goal, scope and success measure.</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11 (elective) — Affinity Diagram and Kano Analysis</a:t>
            </a:r>
          </a:p>
          <a:p>
            <a:pPr algn="l">
              <a:spcAft>
                <a:spcPts val="300"/>
              </a:spcAft>
            </a:pPr>
            <a:r>
              <a:rPr sz="1100" b="0">
                <a:solidFill>
                  <a:srgbClr val="5B6372"/>
                </a:solidFill>
                <a:latin typeface="Arial"/>
              </a:rPr>
              <a:t>An Affinity Diagram of clustered VOC themes and a Kano classification table.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VOC and 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VOC and 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VOC and 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VOC and 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VOC and 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VOC and Value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and Handoffs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and Handoffs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and Handoffs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and Handoffs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and Handoffs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and Handoffs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PDCA Improvement Project 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PDCA Improvement Project 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PDCA Improvement Project 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PDCA Improvement Project 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PDCA Improvement Project 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PDCA Improvement Project Charter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Problem Statement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Problem Statement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Problem Statement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Problem Statement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Problem Statement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Problem Statement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Affinity Diagram and Kano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Affinity Diagram and Kano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Affinity Diagram and Kano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Affinity Diagram and Kano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6 — Data Collection, KPIs and Check Sheets</a:t>
            </a:r>
          </a:p>
          <a:p>
            <a:pPr algn="l">
              <a:spcAft>
                <a:spcPts val="300"/>
              </a:spcAft>
            </a:pPr>
            <a:r>
              <a:rPr sz="1100" b="0">
                <a:solidFill>
                  <a:srgbClr val="5B6372"/>
                </a:solidFill>
                <a:latin typeface="Arial"/>
              </a:rPr>
              <a:t>A data collection plan, an operational definition set and a working check sheet.</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12 (elective) — Value Stream Map and Takt Time</a:t>
            </a:r>
          </a:p>
          <a:p>
            <a:pPr algn="l">
              <a:spcAft>
                <a:spcPts val="300"/>
              </a:spcAft>
            </a:pPr>
            <a:r>
              <a:rPr sz="1100" b="0">
                <a:solidFill>
                  <a:srgbClr val="5B6372"/>
                </a:solidFill>
                <a:latin typeface="Arial"/>
              </a:rPr>
              <a:t>A value stream map with lead time, process time and a calculated takt time.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and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and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and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and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and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and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Value Stream Map and Takt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Lab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Value Stream Map and Takt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Value Stream Map and Takt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Value Stream Map and Takt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7 — Pareto, Run Charts, Yield, DPU and DPMO</a:t>
            </a:r>
          </a:p>
          <a:p>
            <a:pPr algn="l">
              <a:spcAft>
                <a:spcPts val="300"/>
              </a:spcAft>
            </a:pPr>
            <a:r>
              <a:rPr sz="1100" b="0">
                <a:solidFill>
                  <a:srgbClr val="5B6372"/>
                </a:solidFill>
                <a:latin typeface="Arial"/>
              </a:rPr>
              <a:t>A Pareto chart, a run chart and calculated yield, DPU, DPO, DPMO and sigma level.</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8 — Root Cause: 5 Whys, Fishbone, Evidence</a:t>
            </a:r>
          </a:p>
          <a:p>
            <a:pPr algn="l">
              <a:spcAft>
                <a:spcPts val="300"/>
              </a:spcAft>
            </a:pPr>
            <a:r>
              <a:rPr sz="1100" b="0">
                <a:solidFill>
                  <a:srgbClr val="5B6372"/>
                </a:solidFill>
                <a:latin typeface="Arial"/>
              </a:rPr>
              <a:t>A completed 5 Whys chain, a Fishbone diagram and an evidence-tested cause shortlist.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Yield and DPMO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Lab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5 Whys and Fishbone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9 — Countermeasures, 5S and Standard Work</a:t>
            </a:r>
          </a:p>
          <a:p>
            <a:pPr algn="l">
              <a:spcAft>
                <a:spcPts val="300"/>
              </a:spcAft>
            </a:pPr>
            <a:r>
              <a:rPr sz="1100" b="0">
                <a:solidFill>
                  <a:srgbClr val="5B6372"/>
                </a:solidFill>
                <a:latin typeface="Arial"/>
              </a:rPr>
              <a:t>A prioritised countermeasure set with a 5S plan, a poka-yoke design and standard work.</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13 (elective) — Solution Matrix, Benchmarking, FMEA</a:t>
            </a:r>
          </a:p>
          <a:p>
            <a:pPr algn="l">
              <a:spcAft>
                <a:spcPts val="300"/>
              </a:spcAft>
            </a:pPr>
            <a:r>
              <a:rPr sz="1100" b="0">
                <a:solidFill>
                  <a:srgbClr val="5B6372"/>
                </a:solidFill>
                <a:latin typeface="Arial"/>
              </a:rPr>
              <a:t>A scored solution selection matrix, a benchmarking summary and an FMEA with RPN.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and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Solution Matrix, Benchmarking, FMEA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Solution Matrix, Benchmarking, FMEA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Solution Matrix, Benchmarking, FMEA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Solution Matrix, Benchmarking, FMEA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Solution Matrix, Benchmarking, FMEA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10 — Control Plan, A3 Summary and Handover</a:t>
            </a:r>
          </a:p>
          <a:p>
            <a:pPr algn="l">
              <a:spcAft>
                <a:spcPts val="300"/>
              </a:spcAft>
            </a:pPr>
            <a:r>
              <a:rPr sz="1100" b="0">
                <a:solidFill>
                  <a:srgbClr val="5B6372"/>
                </a:solidFill>
                <a:latin typeface="Arial"/>
              </a:rPr>
              <a:t>A control plan, an A3 one-page summary, a handover checklist and a readiness plan.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and Handover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and Handover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and Handover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and Handover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and Handover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and Handover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Descriptive Stats &amp; Implementation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Descriptive Stats &amp; Implementation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Descriptive Stats &amp; Implementation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Descriptive Stats &amp; Implementation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plan to keep applying these tools at work.</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CHECK YOUR MASTERY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Can You Explain These in Your Own Words?</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An e-certificate of completion is awarded by Tertiary Courses.</a:t>
            </a:r>
          </a:p>
          <a:p>
            <a:pPr>
              <a:spcAft>
                <a:spcPts val="1000"/>
              </a:spcAft>
            </a:pPr>
            <a:r>
              <a:rPr sz="2000">
                <a:solidFill>
                  <a:srgbClr val="161B26"/>
                </a:solidFill>
                <a:latin typeface="Arial"/>
              </a:rPr>
              <a:t>•  Keep your lab outputs — they are your template for real improvement projects at work.</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