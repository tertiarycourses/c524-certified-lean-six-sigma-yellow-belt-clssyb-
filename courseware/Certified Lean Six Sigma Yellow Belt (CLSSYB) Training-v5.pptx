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Certified Lean Six Sigma Yellow Belt (CLSSYB) Training</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C524</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v5  ·  19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Certified Lean Six Sigma practitioner — process improvement, quality and data-driven problem solving.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on Lean Six Sigma, quality management, data and cloud.</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A process in your work that frustrates you or your customers.</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improve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Six Sigma foundations, Define phase and process mapping</a:t>
            </a:r>
          </a:p>
          <a:p>
            <a:pPr>
              <a:spcAft>
                <a:spcPts val="1000"/>
              </a:spcAft>
            </a:pPr>
            <a:r>
              <a:rPr sz="1400" b="0">
                <a:solidFill>
                  <a:srgbClr val="5B6372"/>
                </a:solidFill>
                <a:latin typeface="Arial"/>
              </a:rPr>
              <a:t>–  Topic 1: Six Sigma Foundations (Lab 1)</a:t>
            </a:r>
          </a:p>
          <a:p>
            <a:pPr>
              <a:spcAft>
                <a:spcPts val="1000"/>
              </a:spcAft>
            </a:pPr>
            <a:r>
              <a:rPr sz="1400" b="0">
                <a:solidFill>
                  <a:srgbClr val="5B6372"/>
                </a:solidFill>
                <a:latin typeface="Arial"/>
              </a:rPr>
              <a:t>–  Topic 2: Define — Scope the Problem (Labs 2–5, 11)</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Measure, Analyse, Improve and Control</a:t>
            </a:r>
          </a:p>
          <a:p>
            <a:pPr>
              <a:spcAft>
                <a:spcPts val="1000"/>
              </a:spcAft>
            </a:pPr>
            <a:r>
              <a:rPr sz="1400" b="0">
                <a:solidFill>
                  <a:srgbClr val="5B6372"/>
                </a:solidFill>
                <a:latin typeface="Arial"/>
              </a:rPr>
              <a:t>–  Topic 3: Measure — Quantify Performance (Labs 6, 12)</a:t>
            </a:r>
          </a:p>
          <a:p>
            <a:pPr>
              <a:spcAft>
                <a:spcPts val="1000"/>
              </a:spcAft>
            </a:pPr>
            <a:r>
              <a:rPr sz="1400" b="0">
                <a:solidFill>
                  <a:srgbClr val="5B6372"/>
                </a:solidFill>
                <a:latin typeface="Arial"/>
              </a:rPr>
              <a:t>–  Topic 4: Analyze — Find the Root Cause (Labs 7–8)</a:t>
            </a:r>
          </a:p>
          <a:p>
            <a:pPr>
              <a:spcAft>
                <a:spcPts val="1000"/>
              </a:spcAft>
            </a:pPr>
            <a:r>
              <a:rPr sz="1400" b="0">
                <a:solidFill>
                  <a:srgbClr val="5B6372"/>
                </a:solidFill>
                <a:latin typeface="Arial"/>
              </a:rPr>
              <a:t>–  Topic 5: Improve — Fix the Cause (Labs 9, 13)</a:t>
            </a:r>
          </a:p>
          <a:p>
            <a:pPr>
              <a:spcAft>
                <a:spcPts val="1000"/>
              </a:spcAft>
            </a:pPr>
            <a:r>
              <a:rPr sz="1400" b="0">
                <a:solidFill>
                  <a:srgbClr val="5B6372"/>
                </a:solidFill>
                <a:latin typeface="Arial"/>
              </a:rPr>
              <a:t>–  Topic 6: Control — Hold the Gain (Labs 10, 14)</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Define &amp; Scope</a:t>
            </a:r>
          </a:p>
          <a:p>
            <a:pPr algn="l">
              <a:spcAft>
                <a:spcPts val="300"/>
              </a:spcAft>
            </a:pPr>
            <a:r>
              <a:rPr sz="1300" b="0">
                <a:solidFill>
                  <a:srgbClr val="5B6372"/>
                </a:solidFill>
                <a:latin typeface="Arial"/>
              </a:rPr>
              <a:t>Define a project and establish the scope of work using Six Sigma's Define, Measure and Analyse phases.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Lean &amp; Six Sigma Concepts</a:t>
            </a:r>
          </a:p>
          <a:p>
            <a:pPr algn="l">
              <a:spcAft>
                <a:spcPts val="300"/>
              </a:spcAft>
            </a:pPr>
            <a:r>
              <a:rPr sz="1300" b="0">
                <a:solidFill>
                  <a:srgbClr val="5B6372"/>
                </a:solidFill>
                <a:latin typeface="Arial"/>
              </a:rPr>
              <a:t>Apply Lean and Six Sigma concepts — value, waste, defects and variation — to a work process.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Process Mapping</a:t>
            </a:r>
          </a:p>
          <a:p>
            <a:pPr algn="l">
              <a:spcAft>
                <a:spcPts val="300"/>
              </a:spcAft>
            </a:pPr>
            <a:r>
              <a:rPr sz="1300" b="0">
                <a:solidFill>
                  <a:srgbClr val="5B6372"/>
                </a:solidFill>
                <a:latin typeface="Arial"/>
              </a:rPr>
              <a:t>Map a process using SIPOC, process maps and value stream maps to expose handoffs and waste.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Data &amp; Analysis</a:t>
            </a:r>
          </a:p>
          <a:p>
            <a:pPr algn="l">
              <a:spcAft>
                <a:spcPts val="300"/>
              </a:spcAft>
            </a:pPr>
            <a:r>
              <a:rPr sz="1300" b="0">
                <a:solidFill>
                  <a:srgbClr val="5B6372"/>
                </a:solidFill>
                <a:latin typeface="Arial"/>
              </a:rPr>
              <a:t>Collect and analyse process data using check sheets, Pareto charts, run charts and basic metrics.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Root Cause Analysis</a:t>
            </a:r>
          </a:p>
          <a:p>
            <a:pPr algn="l">
              <a:spcAft>
                <a:spcPts val="300"/>
              </a:spcAft>
            </a:pPr>
            <a:r>
              <a:rPr sz="1300" b="0">
                <a:solidFill>
                  <a:srgbClr val="5B6372"/>
                </a:solidFill>
                <a:latin typeface="Arial"/>
              </a:rPr>
              <a:t>Identify root causes using 5 Whys, Fishbone analysis and evidence-based prioritisation.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Improve &amp; Control</a:t>
            </a:r>
          </a:p>
          <a:p>
            <a:pPr algn="l">
              <a:spcAft>
                <a:spcPts val="300"/>
              </a:spcAft>
            </a:pPr>
            <a:r>
              <a:rPr sz="1300" b="0">
                <a:solidFill>
                  <a:srgbClr val="5B6372"/>
                </a:solidFill>
                <a:latin typeface="Arial"/>
              </a:rPr>
              <a:t>Recommend improvement and control actions to sustain gains, and prepare for certification.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Lean Six Sigma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is Lean Six Sigma?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Lean removes waste</a:t>
            </a:r>
          </a:p>
          <a:p>
            <a:pPr algn="l">
              <a:spcAft>
                <a:spcPts val="300"/>
              </a:spcAft>
            </a:pPr>
            <a:r>
              <a:rPr sz="1300" b="0">
                <a:solidFill>
                  <a:srgbClr val="5B6372"/>
                </a:solidFill>
                <a:latin typeface="Arial"/>
              </a:rPr>
              <a:t>Maximise customer value by eliminating the effort the customer would never pay for.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Six Sigma reduces variation</a:t>
            </a:r>
          </a:p>
          <a:p>
            <a:pPr algn="l">
              <a:spcAft>
                <a:spcPts val="300"/>
              </a:spcAft>
            </a:pPr>
            <a:r>
              <a:rPr sz="1300" b="0">
                <a:solidFill>
                  <a:srgbClr val="5B6372"/>
                </a:solidFill>
                <a:latin typeface="Arial"/>
              </a:rPr>
              <a:t>A data-driven method targeting 3.4 defects per million opportunities.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Together: fast and accurate</a:t>
            </a:r>
          </a:p>
          <a:p>
            <a:pPr algn="l">
              <a:spcAft>
                <a:spcPts val="300"/>
              </a:spcAft>
            </a:pPr>
            <a:r>
              <a:rPr sz="1300" b="0">
                <a:solidFill>
                  <a:srgbClr val="5B6372"/>
                </a:solidFill>
                <a:latin typeface="Arial"/>
              </a:rPr>
              <a:t>Lean Six Sigma delivers faster flow AND fewer defects, driven by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Everyone has a belt role</a:t>
            </a:r>
          </a:p>
          <a:p>
            <a:pPr algn="l">
              <a:spcAft>
                <a:spcPts val="300"/>
              </a:spcAft>
            </a:pPr>
            <a:r>
              <a:rPr sz="1300" b="0">
                <a:solidFill>
                  <a:srgbClr val="5B6372"/>
                </a:solidFill>
                <a:latin typeface="Arial"/>
              </a:rPr>
              <a:t>White, Yellow, Green, Black and Master Black Belt — the Yellow Belt supports.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DMAIC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Define</a:t>
            </a:r>
          </a:p>
          <a:p>
            <a:pPr algn="l">
              <a:spcAft>
                <a:spcPts val="300"/>
              </a:spcAft>
            </a:pPr>
            <a:r>
              <a:rPr sz="1200" b="0">
                <a:solidFill>
                  <a:srgbClr val="5B6372"/>
                </a:solidFill>
                <a:latin typeface="Arial"/>
              </a:rPr>
              <a:t>Scope the problem — VOC, CTQ, charter, problem statement, SIPOC.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Quantify today's performance — data collection, check sheets, yield and DPMO.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Analyze</a:t>
            </a:r>
          </a:p>
          <a:p>
            <a:pPr algn="l">
              <a:spcAft>
                <a:spcPts val="300"/>
              </a:spcAft>
            </a:pPr>
            <a:r>
              <a:rPr sz="1200" b="0">
                <a:solidFill>
                  <a:srgbClr val="5B6372"/>
                </a:solidFill>
                <a:latin typeface="Arial"/>
              </a:rPr>
              <a:t>Find the root cause — Pareto, run charts, 5 Whys and Fishbone.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Improve</a:t>
            </a:r>
          </a:p>
          <a:p>
            <a:pPr algn="l">
              <a:spcAft>
                <a:spcPts val="300"/>
              </a:spcAft>
            </a:pPr>
            <a:r>
              <a:rPr sz="1200" b="0">
                <a:solidFill>
                  <a:srgbClr val="5B6372"/>
                </a:solidFill>
                <a:latin typeface="Arial"/>
              </a:rPr>
              <a:t>Fix the cause — countermeasures, 5S, poka-yoke, standard work and piloting.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a:t>
            </a:r>
          </a:p>
          <a:p>
            <a:pPr algn="l">
              <a:spcAft>
                <a:spcPts val="300"/>
              </a:spcAft>
            </a:pPr>
            <a:r>
              <a:rPr sz="1200" b="0">
                <a:solidFill>
                  <a:srgbClr val="5B6372"/>
                </a:solidFill>
                <a:latin typeface="Arial"/>
              </a:rPr>
              <a:t>Hold the gain — control plan, SOPs, visual management, A3 and handover.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LEAN SIX SIGMA MINDSET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the process, not the people.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tool in this course points at the process: measure what it actually does, find why it does it, and change the system so the improvement holds.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 Scenario, One Complete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Define &amp; Measure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Contoso Service Desk</a:t>
            </a:r>
          </a:p>
          <a:p>
            <a:pPr>
              <a:spcAft>
                <a:spcPts val="900"/>
              </a:spcAft>
            </a:pPr>
            <a:r>
              <a:rPr sz="1400" b="0">
                <a:solidFill>
                  <a:srgbClr val="161B26"/>
                </a:solidFill>
                <a:latin typeface="Arial"/>
              </a:rPr>
              <a:t>•  VOC → CTQ, SIPOC</a:t>
            </a:r>
          </a:p>
          <a:p>
            <a:pPr>
              <a:spcAft>
                <a:spcPts val="900"/>
              </a:spcAft>
            </a:pPr>
            <a:r>
              <a:rPr sz="1400" b="0">
                <a:solidFill>
                  <a:srgbClr val="161B26"/>
                </a:solidFill>
                <a:latin typeface="Arial"/>
              </a:rPr>
              <a:t>•  Data collection plan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Analyze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Pareto and run charts</a:t>
            </a:r>
          </a:p>
          <a:p>
            <a:pPr>
              <a:spcAft>
                <a:spcPts val="900"/>
              </a:spcAft>
            </a:pPr>
            <a:r>
              <a:rPr sz="1400" b="0">
                <a:solidFill>
                  <a:srgbClr val="161B26"/>
                </a:solidFill>
                <a:latin typeface="Arial"/>
              </a:rPr>
              <a:t>•  5 Whys and Fishbone</a:t>
            </a:r>
          </a:p>
          <a:p>
            <a:pPr>
              <a:spcAft>
                <a:spcPts val="900"/>
              </a:spcAft>
            </a:pPr>
            <a:r>
              <a:rPr sz="1400" b="0">
                <a:solidFill>
                  <a:srgbClr val="161B26"/>
                </a:solidFill>
                <a:latin typeface="Arial"/>
              </a:rPr>
              <a:t>•  Evidence-tested root cause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Improve &amp; Control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Countermeasures and 5S</a:t>
            </a:r>
          </a:p>
          <a:p>
            <a:pPr>
              <a:spcAft>
                <a:spcPts val="900"/>
              </a:spcAft>
            </a:pPr>
            <a:r>
              <a:rPr sz="1400" b="0">
                <a:solidFill>
                  <a:srgbClr val="161B26"/>
                </a:solidFill>
                <a:latin typeface="Arial"/>
              </a:rPr>
              <a:t>•  Control plan and SOPs</a:t>
            </a:r>
          </a:p>
          <a:p>
            <a:pPr>
              <a:spcAft>
                <a:spcPts val="900"/>
              </a:spcAft>
            </a:pPr>
            <a:r>
              <a:rPr sz="1400" b="0">
                <a:solidFill>
                  <a:srgbClr val="161B26"/>
                </a:solidFill>
                <a:latin typeface="Arial"/>
              </a:rPr>
              <a:t>•  A3 summary and handover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Every lab uses one continuous scenario — the Contoso Service Desk, where IT tickets are slow to be assigned.</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Each lab produces a real artifact: a table, a map, a chart or a plan.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Each lab ends with a 'Check your work' step so you can verify your own output.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By the end your outputs form one complete improvement package, ready to reuse at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Six Sigma Foundations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is Quality</a:t>
            </a:r>
          </a:p>
          <a:p>
            <a:pPr algn="l">
              <a:spcAft>
                <a:spcPts val="300"/>
              </a:spcAft>
            </a:pPr>
            <a:r>
              <a:rPr sz="1200" b="0">
                <a:solidFill>
                  <a:srgbClr val="5B6372"/>
                </a:solidFill>
                <a:latin typeface="Arial"/>
              </a:rPr>
              <a:t>Quality is conformance to customer requirements — not merely defect-free output.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is Lean</a:t>
            </a:r>
          </a:p>
          <a:p>
            <a:pPr algn="l">
              <a:spcAft>
                <a:spcPts val="300"/>
              </a:spcAft>
            </a:pPr>
            <a:r>
              <a:rPr sz="1200" b="0">
                <a:solidFill>
                  <a:srgbClr val="5B6372"/>
                </a:solidFill>
                <a:latin typeface="Arial"/>
              </a:rPr>
              <a:t>A method to maximise customer value by systematically removing waste and improving flow.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is Six Sigma</a:t>
            </a:r>
          </a:p>
          <a:p>
            <a:pPr algn="l">
              <a:spcAft>
                <a:spcPts val="300"/>
              </a:spcAft>
            </a:pPr>
            <a:r>
              <a:rPr sz="1200" b="0">
                <a:solidFill>
                  <a:srgbClr val="5B6372"/>
                </a:solidFill>
                <a:latin typeface="Arial"/>
              </a:rPr>
              <a:t>A data-driven method to reduce variation and defects — targeting 3.4 defects per million.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Lean Six Sigma</a:t>
            </a:r>
          </a:p>
          <a:p>
            <a:pPr algn="l">
              <a:spcAft>
                <a:spcPts val="300"/>
              </a:spcAft>
            </a:pPr>
            <a:r>
              <a:rPr sz="1200" b="0">
                <a:solidFill>
                  <a:srgbClr val="5B6372"/>
                </a:solidFill>
                <a:latin typeface="Arial"/>
              </a:rPr>
              <a:t>The combined method: faster flow AND fewer defects, driven by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Belt roles</a:t>
            </a:r>
          </a:p>
          <a:p>
            <a:pPr algn="l">
              <a:spcAft>
                <a:spcPts val="300"/>
              </a:spcAft>
            </a:pPr>
            <a:r>
              <a:rPr sz="1200" b="0">
                <a:solidFill>
                  <a:srgbClr val="5B6372"/>
                </a:solidFill>
                <a:latin typeface="Arial"/>
              </a:rPr>
              <a:t>White, Yellow, Green, Black and Master Black Belt — who does what on a project.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DMAIC roadmap</a:t>
            </a:r>
          </a:p>
          <a:p>
            <a:pPr algn="l">
              <a:spcAft>
                <a:spcPts val="300"/>
              </a:spcAft>
            </a:pPr>
            <a:r>
              <a:rPr sz="1200" b="0">
                <a:solidFill>
                  <a:srgbClr val="5B6372"/>
                </a:solidFill>
                <a:latin typeface="Arial"/>
              </a:rPr>
              <a:t>Define, Measure, Analyze, Improve, Control — the disciplined improvement path.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Six Sigma Foundations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Yellow Belt Role, Certification Paths, and Improvement Scenario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Yellow Belt Role, Certification Paths, and Improvement Scenario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Establish what a Lean Six Sigma Yellow Belt is accountable for, how the belt pathway progresses from White to Master Black Belt, and choose a small, manageable improvement scenario to carry through the whole course.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Yellow Belt responsibility table and a selected improvement scenario.</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Belt role matrix, CSSC certification pathway, project selection criteria</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Yellow Belt Role, Certification Paths, and Improvement Scenario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the Yellow Belt role — list at least four responsibilities and your contribution to each.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Yellow Belt Role, Certification Paths, and Improvement Scenario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Compare the White, Yellow, Green, Black and Master Black Belt pathways in a table.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Yellow Belt Role, Certification Paths, and Improvement Scenario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Contoso Service Desk scenario: tickets are slow to be assigned and status is unclear.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Yellow Belt Role, Certification Paths, and Improvement Scenario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Test your scenario against the 'good project' criteria — day-to-day work, manageable, aligned to business goals, data available.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Yellow Belt Role, Certification Paths, and Improvement Scenario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Record why a Yellow Belt supports rather than leads this improvement.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Yellow Belt Role, Certification Paths, and Improvement Scenario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state the Yellow Belt role in one sentence and justify your scenario against all four selection criteria.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Six Sigma Foundations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Explain the Yellow Belt role and select a suitable improvement scenario (A1)</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Scope the Problem</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VOC · CTQ · Project charter · Problem statement · Scope · SIPOC · Process mapping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Define — Scope the Problem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Voice of the Customer</a:t>
            </a:r>
          </a:p>
          <a:p>
            <a:pPr algn="l">
              <a:spcAft>
                <a:spcPts val="300"/>
              </a:spcAft>
            </a:pPr>
            <a:r>
              <a:rPr sz="1200" b="0">
                <a:solidFill>
                  <a:srgbClr val="5B6372"/>
                </a:solidFill>
                <a:latin typeface="Arial"/>
              </a:rPr>
              <a:t>Capture customer needs in their own words before deciding anything.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Critical to Quality</a:t>
            </a:r>
          </a:p>
          <a:p>
            <a:pPr algn="l">
              <a:spcAft>
                <a:spcPts val="300"/>
              </a:spcAft>
            </a:pPr>
            <a:r>
              <a:rPr sz="1200" b="0">
                <a:solidFill>
                  <a:srgbClr val="5B6372"/>
                </a:solidFill>
                <a:latin typeface="Arial"/>
              </a:rPr>
              <a:t>Translate each VOC need into a specific, measurable CTQ requirement.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Project charter</a:t>
            </a:r>
          </a:p>
          <a:p>
            <a:pPr algn="l">
              <a:spcAft>
                <a:spcPts val="300"/>
              </a:spcAft>
            </a:pPr>
            <a:r>
              <a:rPr sz="1200" b="0">
                <a:solidFill>
                  <a:srgbClr val="5B6372"/>
                </a:solidFill>
                <a:latin typeface="Arial"/>
              </a:rPr>
              <a:t>Problem statement, goal, scope, team and benefit — the project's contract.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Problem statement</a:t>
            </a:r>
          </a:p>
          <a:p>
            <a:pPr algn="l">
              <a:spcAft>
                <a:spcPts val="300"/>
              </a:spcAft>
            </a:pPr>
            <a:r>
              <a:rPr sz="1200" b="0">
                <a:solidFill>
                  <a:srgbClr val="5B6372"/>
                </a:solidFill>
                <a:latin typeface="Arial"/>
              </a:rPr>
              <a:t>Process, time period, measurable issue and impact — and never a solution.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SIPOC</a:t>
            </a:r>
          </a:p>
          <a:p>
            <a:pPr algn="l">
              <a:spcAft>
                <a:spcPts val="300"/>
              </a:spcAft>
            </a:pPr>
            <a:r>
              <a:rPr sz="1200" b="0">
                <a:solidFill>
                  <a:srgbClr val="5B6372"/>
                </a:solidFill>
                <a:latin typeface="Arial"/>
              </a:rPr>
              <a:t>The macro as-is map: Suppliers, Inputs, Process, Outputs, Customers.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Process mapping</a:t>
            </a:r>
          </a:p>
          <a:p>
            <a:pPr algn="l">
              <a:spcAft>
                <a:spcPts val="300"/>
              </a:spcAft>
            </a:pPr>
            <a:r>
              <a:rPr sz="1200" b="0">
                <a:solidFill>
                  <a:srgbClr val="5B6372"/>
                </a:solidFill>
                <a:latin typeface="Arial"/>
              </a:rPr>
              <a:t>Flowcharts and swimlanes expose the handoffs where delay and defects are born.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Define — Scope the Problem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Lean, Six Sigma, Waste, Voice of Customer, and Value</a:t>
            </a:r>
          </a:p>
          <a:p>
            <a:pPr>
              <a:spcAft>
                <a:spcPts val="900"/>
              </a:spcAft>
            </a:pPr>
            <a:r>
              <a:rPr sz="1400" b="0">
                <a:solidFill>
                  <a:srgbClr val="161B26"/>
                </a:solidFill>
                <a:latin typeface="Arial"/>
              </a:rPr>
              <a:t>•  SIPOC, Process Mapping, Handoffs, and SME Support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PDCA Small Improvement Project Charter</a:t>
            </a:r>
          </a:p>
          <a:p>
            <a:pPr>
              <a:spcAft>
                <a:spcPts val="900"/>
              </a:spcAft>
            </a:pPr>
            <a:r>
              <a:rPr sz="1400" b="0">
                <a:solidFill>
                  <a:srgbClr val="161B26"/>
                </a:solidFill>
                <a:latin typeface="Arial"/>
              </a:rPr>
              <a:t>•  DMAIC Overview, Problem Statement, Scope, and Stakeholders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Affinity Diagram and Kano Analysis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Lean, Six Sigma, Waste, Voice of Customer, and Value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Separate what the customer actually values from the waste that surrounds it. Capture the Voice of the Customer, translate it into measurable CTQ requirements, and run a waste walk using the eight wastes (DOWNTIME).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translation table, a value-added analysis, and a waste walk log.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VOC, CTQ tree, DOWNTIME eight wastes, value-added analysis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Lean, Six Sigma, Waste, Voice of Customer, and Value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Capture the Voice of the Customer — record at least five verbatim customer statements.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Lean, Six Sigma, Waste, Voice of Customer, and Value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Translate each VOC statement into a need, then into a measurable CTQ requirement.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Lean, Six Sigma, Waste, Voice of Customer, and Value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Classify each process activity as value-added, business-value-added or non-value-added.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Lean, Six Sigma, Waste, Voice of Customer, and Value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Conduct a waste walk and tag each observation against the eight wastes (DOWNTIME).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Lean, Six Sigma, Waste, Voice of Customer, and Value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Distinguish a defect (output fails CTQ) from waste (effort the customer will not pay for).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Lean, Six Sigma, Waste, Voice of Customer, and Value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Identify which single waste type appears most often in your scenario.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Lean, Six Sigma, Waste, Voice of Customer, and Value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is measurable with a target, and each waste observation is tagged to one of the eight waste types.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SIPOC, Process Mapping, Handoffs, and SME Support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Build the macro 'as-is' view with SIPOC, then drill into a detailed process map that shows every actor, system and handoff — the points where delay and defects are actually created.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SIPOC and a detailed process map with pain points marked.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SIPOC, process flowchart, swimlane map, standard process symbols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SIPOC, Process Mapping, Handoffs, and SME Support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process boundaries — agree the explicit start and stop points first.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SIPOC, Process Mapping, Handoffs, and SME Support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the SIPOC: Suppliers, Inputs, Process (5-7 high-level steps), Outputs, Customers.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SIPOC, Process Mapping, Handoffs, and SME Support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Expand into a detailed process map: Step, Actor, Activity, System, Handoff.</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SIPOC, Process Mapping, Handoffs, and SME Support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Draw the same flow as a swimlane map so each actor's lane makes handoffs obvious.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SIPOC, Process Mapping, Handoffs, and SME Support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Mark pain points — delays, rework loops, unclear ownership and handoff risks.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SIPOC, Process Mapping, Handoffs, and SME Support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Prepare SME notes for the Green Belt: what you observed and what needs validation.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SIPOC, Process Mapping, Handoffs, and SME Support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populated and every handoff on the detailed map has a named owner on both sides.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PDCA Small Improvement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Not every improvement needs a full DMAIC project. Use PDCA to charter a small, fast improvement that a Yellow Belt can run under guidance — with a problem statement, a measurable goal and a defined check point.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one-page PDCA charter with problem statement, goal, scope and success measure.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PDCA cycle, problem/goal statements, scope in-out, stakeholder list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PDCA Small Improvement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Map the four PDCA phases to concrete actions for your scenario.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PDCA Small Improvement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problem statement: process, time period, measurable issue and impact — no solution.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PDCA Small Improvement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measurable goal statement: metric, baseline, target and date.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PDCA Small Improvement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scope with an explicit in-scope / out-of-scope table to prevent scope creep.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PDCA Small Improvement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Identify stakeholders and the decision you will make after the Check phase.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PDCA Small Improvement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improvement is small enough to test within two weeks.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PDCA Small Improvement Project Charter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goal statement contains a metric, a baseline, a target and a date, and your problem statement names no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DMAIC Overview, Problem Statement, Scope, and Stakeholders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Step up from PDCA to the full DMAIC roadmap. Clarify what each phase delivers, where a Yellow Belt contributes most, and prepare defensible Define-phase information for the project leader.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phase table, refined problem statement, stakeholder map and benefit estimate.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DMAIC roadmap, project charter, stakeholder analysis, CTQ linkage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DMAIC Overview, Problem Statement, Scope, and Stakeholders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Summarise all five DMAIC phases: purpose, key deliverable and Yellow Belt support role.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DMAIC Overview, Problem Statement, Scope, and Stakeholders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the problem statement so it is specific, measurable and solution-free.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DMAIC Overview, Problem Statement, Scope, and Stakeholders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Identify stakeholders and classify each by influence and interest.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DMAIC Overview, Problem Statement, Scope, and Stakeholders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the project scope and state the expected benefit in business terms.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DMAIC Overview, Problem Statement, Scope, and Stakeholders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Link the problem back to the CTQ requirements captured in Lab 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DMAIC Overview, Problem Statement, Scope, and Stakeholders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which DMAIC phases a Yellow Belt can support most strongly.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DMAIC Overview, Problem Statement, Scope, and Stakeholders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problem statement passes the 'no solution named' test and every stakeholder has a defined engagement approach.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Affinity Diagram and Kano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Two Define-phase tools from the original course. Use an Affinity Diagram to cluster unstructured VOC input into themes, then apply Kano Analysis to classify requirements as Must-Be, One-Dimensional or Delighter.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Affinity Diagram of clustered VOC themes and a Kano classification table.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Affinity Diagram, Kano Analysis, VOC clustering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Affinity Diagram and Kano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each VOC statement on a separate note — one idea per note.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Affinity Diagram and Kano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Cluster related notes into natural groups without talking, then name each group.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Affinity Diagram and Kano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Classify each requirement as Must-Be, One-Dimensional or Delighter.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Affinity Diagram and Kano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Plot the requirements on the Kano diagram and identify where to invest first.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Affinity Diagram and Kano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VOC note sits in exactly one named affinity group and carries a Kano classification.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Define — Scope the Problem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Apply Lean and Six Sigma concepts — value, waste, defects, variation (K1, A2)</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Map a process with SIPOC and a detailed process map to expose handoffs (A2, A3)</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Charter a small improvement using PDCA with a measurable goal (A1, A2)</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Support the Define phase of a DMAIC project (A1, A2)</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Organise customer requirements and classify them by satisfaction impact (K2)</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Quantify Performance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8 wastes · Data types · Data collection plan · Check sheets · Yield · DPMO · Sigma level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Measure — Quantify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8 wastes — DOWNTIME</a:t>
            </a:r>
          </a:p>
          <a:p>
            <a:pPr algn="l">
              <a:spcAft>
                <a:spcPts val="300"/>
              </a:spcAft>
            </a:pPr>
            <a:r>
              <a:rPr sz="1200" b="0">
                <a:solidFill>
                  <a:srgbClr val="5B6372"/>
                </a:solidFill>
                <a:latin typeface="Arial"/>
              </a:rPr>
              <a:t>Defects, Overproduction, Waiting, Non-utilised talent, Transport, Inventory, Motion, Extra-processing.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Types of data</a:t>
            </a:r>
          </a:p>
          <a:p>
            <a:pPr algn="l">
              <a:spcAft>
                <a:spcPts val="300"/>
              </a:spcAft>
            </a:pPr>
            <a:r>
              <a:rPr sz="1200" b="0">
                <a:solidFill>
                  <a:srgbClr val="5B6372"/>
                </a:solidFill>
                <a:latin typeface="Arial"/>
              </a:rPr>
              <a:t>Continuous vs discrete; nominal vs ordinal — the data type drives the tool choice.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collection plan</a:t>
            </a:r>
          </a:p>
          <a:p>
            <a:pPr algn="l">
              <a:spcAft>
                <a:spcPts val="300"/>
              </a:spcAft>
            </a:pPr>
            <a:r>
              <a:rPr sz="1200" b="0">
                <a:solidFill>
                  <a:srgbClr val="5B6372"/>
                </a:solidFill>
                <a:latin typeface="Arial"/>
              </a:rPr>
              <a:t>What, who, when and how — with operational definitions to remove ambiguity.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 sheets</a:t>
            </a:r>
          </a:p>
          <a:p>
            <a:pPr algn="l">
              <a:spcAft>
                <a:spcPts val="300"/>
              </a:spcAft>
            </a:pPr>
            <a:r>
              <a:rPr sz="1200" b="0">
                <a:solidFill>
                  <a:srgbClr val="5B6372"/>
                </a:solidFill>
                <a:latin typeface="Arial"/>
              </a:rPr>
              <a:t>A simple structured form is the most reliable way to capture process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Process metrics</a:t>
            </a:r>
          </a:p>
          <a:p>
            <a:pPr algn="l">
              <a:spcAft>
                <a:spcPts val="300"/>
              </a:spcAft>
            </a:pPr>
            <a:r>
              <a:rPr sz="1200" b="0">
                <a:solidFill>
                  <a:srgbClr val="5B6372"/>
                </a:solidFill>
                <a:latin typeface="Arial"/>
              </a:rPr>
              <a:t>Yield, DPU, DPO and DPMO quantify how well the process actually performs.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Sigma level</a:t>
            </a:r>
          </a:p>
          <a:p>
            <a:pPr algn="l">
              <a:spcAft>
                <a:spcPts val="300"/>
              </a:spcAft>
            </a:pPr>
            <a:r>
              <a:rPr sz="1200" b="0">
                <a:solidFill>
                  <a:srgbClr val="5B6372"/>
                </a:solidFill>
                <a:latin typeface="Arial"/>
              </a:rPr>
              <a:t>Convert DPMO into a sigma level to benchmark the process against Six Sigma.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Measure — Quantify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Data Collection, KPIs, Check Sheets, and Basic Metrics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Value Stream Map and Takt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Collection, KPIs, Check Sheets, and Basic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Replace anecdote with evidence. Define KPIs with unambiguous operational definitions, design a check sheet, plan the sampling approach, and understand which data type you are collecting — because the data type drives the tool.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an operational definition set and a working check sheet.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KPI definition, operational definitions, check sheets, sampling, data types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Collection, KPIs, Check Sheets, and Basic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Classify your data: continuous vs discrete, nominal vs ordinal — and why it matters.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Collection, KPIs, Check Sheets, and Basic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KPIs with operational definitions, data source and collection frequency.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Collection, KPIs, Check Sheets, and Basic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Design a check sheet capturing date, ticket ID, type, assignment time and defect category.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Collection, KPIs, Check Sheets, and Basic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mutually exclusive defect categories so every observation lands in exactly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Collection, KPIs, Check Sheets, and Basic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Plan sampling: how many, how often, by whom — and identify possible bias.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Collection, KPIs, Check Sheets, and Basic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State which KPI best reflects the customer pain point from your VOC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Collection, KPIs, Check Sheets, and Basic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different people reading your operational definition would record the same value for the same event.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Value Stream Map and Takt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Extend process mapping into Lean metrics. Map the value stream with process and wait times, calculate process cycle efficiency, then compute takt time to see whether the process can meet customer demand.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value stream map with lead time, process time and a calculated takt time.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Value stream mapping, lead time, WIP, takt time, cycle efficiency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Value Stream Map and Takt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Map the value stream: each step with its process time and the wait time between steps.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Value Stream Map and Takt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Total the value-added time and the lead time, then compute process cycle efficiency.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Value Stream Map and Takt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Calculate takt time = available working time / customer demand.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Value Stream Map and Takt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Compare cycle time against takt time to identify the bottleneck step.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Value Stream Map and Takt Time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lead time equals the sum of all process and wait times, and takt time is expressed per unit.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Measure — Quantify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Plan and execute data collection against defined quality standards (A4)</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Quantify flow, lead time and takt time across the value stream (A3, A4)</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Root Cause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Variation · Pareto · Run charts · 5 Whys · Fishbone · Multi-voting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Variation</a:t>
            </a:r>
          </a:p>
          <a:p>
            <a:pPr algn="l">
              <a:spcAft>
                <a:spcPts val="300"/>
              </a:spcAft>
            </a:pPr>
            <a:r>
              <a:rPr sz="1200" b="0">
                <a:solidFill>
                  <a:srgbClr val="5B6372"/>
                </a:solidFill>
                <a:latin typeface="Arial"/>
              </a:rPr>
              <a:t>Common cause is built into the process; special cause is an external, assignable signal.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Pareto analysis</a:t>
            </a:r>
          </a:p>
          <a:p>
            <a:pPr algn="l">
              <a:spcAft>
                <a:spcPts val="300"/>
              </a:spcAft>
            </a:pPr>
            <a:r>
              <a:rPr sz="1200" b="0">
                <a:solidFill>
                  <a:srgbClr val="5B6372"/>
                </a:solidFill>
                <a:latin typeface="Arial"/>
              </a:rPr>
              <a:t>The 80/20 rule separates the vital few causes from the trivial many.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 charts</a:t>
            </a:r>
          </a:p>
          <a:p>
            <a:pPr algn="l">
              <a:spcAft>
                <a:spcPts val="300"/>
              </a:spcAft>
            </a:pPr>
            <a:r>
              <a:rPr sz="1200" b="0">
                <a:solidFill>
                  <a:srgbClr val="5B6372"/>
                </a:solidFill>
                <a:latin typeface="Arial"/>
              </a:rPr>
              <a:t>Plot the metric over time to reveal trend, shift, cluster and oscillation.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Whys</a:t>
            </a:r>
          </a:p>
          <a:p>
            <a:pPr algn="l">
              <a:spcAft>
                <a:spcPts val="300"/>
              </a:spcAft>
            </a:pPr>
            <a:r>
              <a:rPr sz="1200" b="0">
                <a:solidFill>
                  <a:srgbClr val="5B6372"/>
                </a:solidFill>
                <a:latin typeface="Arial"/>
              </a:rPr>
              <a:t>Ask why repeatedly to drill from the symptom down to an actionable cause.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Fishbone diagram</a:t>
            </a:r>
          </a:p>
          <a:p>
            <a:pPr algn="l">
              <a:spcAft>
                <a:spcPts val="300"/>
              </a:spcAft>
            </a:pPr>
            <a:r>
              <a:rPr sz="1200" b="0">
                <a:solidFill>
                  <a:srgbClr val="5B6372"/>
                </a:solidFill>
                <a:latin typeface="Arial"/>
              </a:rPr>
              <a:t>Organise candidate causes by category — Manpower, Method, Machine, Material, Measurement.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testing</a:t>
            </a:r>
          </a:p>
          <a:p>
            <a:pPr algn="l">
              <a:spcAft>
                <a:spcPts val="300"/>
              </a:spcAft>
            </a:pPr>
            <a:r>
              <a:rPr sz="1200" b="0">
                <a:solidFill>
                  <a:srgbClr val="5B6372"/>
                </a:solidFill>
                <a:latin typeface="Arial"/>
              </a:rPr>
              <a:t>A cause is only a root cause when the data you collected supports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Pareto, Run Charts, Variation, Yield, DPU, and DPMO</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Root Cause Analysis with 5 Whys, Fishbone, and Evidence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collected data into decisions. Apply the Pareto principle to find the vital few categories, use a run chart to see behaviour over time, and calculate the standard Six Sigma process metrics.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Pareto chart, a run chart and calculated yield, DPU, DPO, DPMO and sigma level.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Pareto Chart tool (collaborative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the Pareto table: category, count, percentage and cumulative percentage.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your group, open the collaborative Pareto tool — one member creates the session and shares the code, then everyone joins, brainstorms and votes to produce the live Pareto chart.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Identify the vital few categories driving about 80% of the problem.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Export your assignment-time data as CSV and plot a run chart in NovaSPC.</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Interpret the run chart for trend, shift, cluster and oscillation patterns.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Calculate yield, DPU, DPO and DPMO from your defect data.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Convert DPMO to a sigma level and interpret what it says about the process.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Distinguish common-cause from special-cause variation and why the response differs.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Pareto, Run Charts, Variation, Yield, DPU, and DPMO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cumulative percentage column reaches 100%, and you can state the sigma level with the DPMO it came from.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Move from symptom to cause. Apply the 5 Whys to drill past the obvious, organise candidate causes on a Fishbone diagram, then test each candidate against the evidence you actually collected.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and an evidence-tested cause shortlist.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5 Whys tool, Fishbone tool, 5M categories, brainstorming, multi-voting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problem statement precisely — the effect you are explaining.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Complete a 5 Whys chain with the online 5 Whys tool, continuing until you reach an actionable cause.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a Fishbone diagram with the online Fishbone tool using the 5M categories: Manpower, Method, Machine, Material, Measurement.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Brainstorm candidate causes into each category — no evaluation during generation.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multi-voting to shortlist the most likely causes as a team.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Test each shortlisted cause against your Lab 7 data — does the evidence support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State why the team must not jump straight to solutions.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Root Cause Analysis with 5 Whys, Fishbone, and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shortlisted root cause is supported by named evidence, and your 5 Whys chain ends at something you can act 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Analyse process performance data to quantify and prioritise (A3, A4)</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Identify root causes of variation using structured analysis (A3)</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Countermeasures · 5S · Poka-Yoke · Standard work · Kaizen · Solution selection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COURSE COVERAGE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Improve — Fix the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Generating solutions</a:t>
            </a:r>
          </a:p>
          <a:p>
            <a:pPr algn="l">
              <a:spcAft>
                <a:spcPts val="300"/>
              </a:spcAft>
            </a:pPr>
            <a:r>
              <a:rPr sz="1200" b="0">
                <a:solidFill>
                  <a:srgbClr val="5B6372"/>
                </a:solidFill>
                <a:latin typeface="Arial"/>
              </a:rPr>
              <a:t>Brainstorm widely against the proven root cause before evaluating anything.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Solution selection</a:t>
            </a:r>
          </a:p>
          <a:p>
            <a:pPr algn="l">
              <a:spcAft>
                <a:spcPts val="300"/>
              </a:spcAft>
            </a:pPr>
            <a:r>
              <a:rPr sz="1200" b="0">
                <a:solidFill>
                  <a:srgbClr val="5B6372"/>
                </a:solidFill>
                <a:latin typeface="Arial"/>
              </a:rPr>
              <a:t>Score candidate solutions against weighted criteria before committing.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5S</a:t>
            </a:r>
          </a:p>
          <a:p>
            <a:pPr algn="l">
              <a:spcAft>
                <a:spcPts val="300"/>
              </a:spcAft>
            </a:pPr>
            <a:r>
              <a:rPr sz="1200" b="0">
                <a:solidFill>
                  <a:srgbClr val="5B6372"/>
                </a:solidFill>
                <a:latin typeface="Arial"/>
              </a:rPr>
              <a:t>Sort, Set in order, Shine, Standardise, Sustain — for physical and digital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Poka-Yoke</a:t>
            </a:r>
          </a:p>
          <a:p>
            <a:pPr algn="l">
              <a:spcAft>
                <a:spcPts val="300"/>
              </a:spcAft>
            </a:pPr>
            <a:r>
              <a:rPr sz="1200" b="0">
                <a:solidFill>
                  <a:srgbClr val="5B6372"/>
                </a:solidFill>
                <a:latin typeface="Arial"/>
              </a:rPr>
              <a:t>Mistake proofing makes the error difficult or impossible to make in the first place.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 work</a:t>
            </a:r>
          </a:p>
          <a:p>
            <a:pPr algn="l">
              <a:spcAft>
                <a:spcPts val="300"/>
              </a:spcAft>
            </a:pPr>
            <a:r>
              <a:rPr sz="1200" b="0">
                <a:solidFill>
                  <a:srgbClr val="5B6372"/>
                </a:solidFill>
                <a:latin typeface="Arial"/>
              </a:rPr>
              <a:t>Document the improved method so anyone can repeat it the same way.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Piloting</a:t>
            </a:r>
          </a:p>
          <a:p>
            <a:pPr algn="l">
              <a:spcAft>
                <a:spcPts val="300"/>
              </a:spcAft>
            </a:pPr>
            <a:r>
              <a:rPr sz="1200" b="0">
                <a:solidFill>
                  <a:srgbClr val="5B6372"/>
                </a:solidFill>
                <a:latin typeface="Arial"/>
              </a:rPr>
              <a:t>Test the change at small scale to expose issues before full rollout.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Improve — Fix the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Countermeasures, 5S, Mistake Proofing, Standard Work, and Kaizen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Solution Selection Matrix, Benchmarking, and FMEA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Countermeasures, 5S, Mistake Proofing, Standard Work, and Kaizen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Generate and select countermeasures that attack the root cause you proved — not the symptom. Apply the core Lean improvement tools: 5S, poka-yoke, visual management, standard work and Kaizen.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prioritised countermeasure set with a 5S plan, a poka-yoke design and standard work.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Brainstorming, 5S, poka-yoke, visual management, standard work, Kaizen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Countermeasures, 5S, Mistake Proofing, Standard Work, and Kaizen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countermeasures for each proven root cause — quantity before quality.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Countermeasures, 5S, Mistake Proofing, Standard Work, and Kaizen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Prioritise using an impact vs effort matrix to find the quick wins.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Countermeasures, 5S, Mistake Proofing, Standard Work, and Kaizen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5S thinking — Sort, Set in order, Shine, Standardise, Sustain — including to digital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Countermeasures, 5S, Mistake Proofing, Standard Work, and Kaizen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Design one poka-yoke that makes the error difficult or impossible to make.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Countermeasures, 5S, Mistake Proofing, Standard Work, and Kaizen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standard work so the improved method is repeatable by anyone.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Countermeasures, 5S, Mistake Proofing, Standard Work, and Kaizen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Plan a Kaizen event or pilot to test the countermeasure at small scale first.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Countermeasures, 5S, Mistake Proofing, Standard Work, and Kaizen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Distinguish a containment countermeasure from a permanent solution.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Countermeasures, 5S, Mistake Proofing, Standard Work, and Kaizen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countermeasure traces back to a proven root cause, and your poka-yoke prevents rather than detects the error.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Solution Selection Matrix, Benchmarking, and FMEA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Three Improve-phase tools from the original course. Score solutions against weighted criteria, benchmark against outstanding practice, and use FMEA to find how a proposed change could fail before it does.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a benchmarking summary and an FMEA with RPN.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Solution selection matrix, benchmarking, FMEA, RPN scoring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Solution Selection Matrix, Benchmarking, and FMEA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Agree the selection criteria and weight each by importance.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Solution Selection Matrix, Benchmarking, and FMEA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Score every candidate solution against the weighted criteria and rank the results.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Solution Selection Matrix, Benchmarking, and FMEA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Benchmark your process against an internal or external reference and note the gap.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Solution Selection Matrix, Benchmarking, and FMEA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an FMEA: failure mode, effect, cause, then score Severity, Occurrence and Detection.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Solution Selection Matrix, Benchmarking, and FMEA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Calculate RPN = S x O x D and address the highest-RPN failure modes first.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Solution Selection Matrix, Benchmarking, and FMEA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matrix ranks solutions by weighted score, and every FMEA row has an RPN and an action for the highest scores.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Improve — Fix the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Recommend improvement actions that address the proven root cause (A5)</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Evaluate and de-risk candidate solutions before implementation (A5, K2)</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F59E0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Huddles · A3 · Handover · Certification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9E0B"/>
                </a:solidFill>
                <a:latin typeface="Arial"/>
              </a:rPr>
              <a:t>COURSE COVERAGE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Control — Hold the Gain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 plan</a:t>
            </a:r>
          </a:p>
          <a:p>
            <a:pPr algn="l">
              <a:spcAft>
                <a:spcPts val="300"/>
              </a:spcAft>
            </a:pPr>
            <a:r>
              <a:rPr sz="1200" b="0">
                <a:solidFill>
                  <a:srgbClr val="5B6372"/>
                </a:solidFill>
                <a:latin typeface="Arial"/>
              </a:rPr>
              <a:t>Metric, target, monitoring method, frequency, owner and reaction plan.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Process control</a:t>
            </a:r>
          </a:p>
          <a:p>
            <a:pPr algn="l">
              <a:spcAft>
                <a:spcPts val="300"/>
              </a:spcAft>
            </a:pPr>
            <a:r>
              <a:rPr sz="1200" b="0">
                <a:solidFill>
                  <a:srgbClr val="5B6372"/>
                </a:solidFill>
                <a:latin typeface="Arial"/>
              </a:rPr>
              <a:t>A process is in control when it varies consistently within expected limits.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Visual management</a:t>
            </a:r>
          </a:p>
          <a:p>
            <a:pPr algn="l">
              <a:spcAft>
                <a:spcPts val="300"/>
              </a:spcAft>
            </a:pPr>
            <a:r>
              <a:rPr sz="1200" b="0">
                <a:solidFill>
                  <a:srgbClr val="5B6372"/>
                </a:solidFill>
                <a:latin typeface="Arial"/>
              </a:rPr>
              <a:t>Boards and dashboards keep the improved performance visible to everyone.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 operating procedures</a:t>
            </a:r>
          </a:p>
          <a:p>
            <a:pPr algn="l">
              <a:spcAft>
                <a:spcPts val="300"/>
              </a:spcAft>
            </a:pPr>
            <a:r>
              <a:rPr sz="1200" b="0">
                <a:solidFill>
                  <a:srgbClr val="5B6372"/>
                </a:solidFill>
                <a:latin typeface="Arial"/>
              </a:rPr>
              <a:t>Written instructions that lock in the improved method.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Team huddles</a:t>
            </a:r>
          </a:p>
          <a:p>
            <a:pPr algn="l">
              <a:spcAft>
                <a:spcPts val="300"/>
              </a:spcAft>
            </a:pPr>
            <a:r>
              <a:rPr sz="1200" b="0">
                <a:solidFill>
                  <a:srgbClr val="5B6372"/>
                </a:solidFill>
                <a:latin typeface="Arial"/>
              </a:rPr>
              <a:t>Short, regular stand-ups that surface problems while they are still small.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A3 and handover</a:t>
            </a:r>
          </a:p>
          <a:p>
            <a:pPr algn="l">
              <a:spcAft>
                <a:spcPts val="300"/>
              </a:spcAft>
            </a:pPr>
            <a:r>
              <a:rPr sz="1200" b="0">
                <a:solidFill>
                  <a:srgbClr val="5B6372"/>
                </a:solidFill>
                <a:latin typeface="Arial"/>
              </a:rPr>
              <a:t>One-page storytelling to summarise, hand over and sustain the improvement.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Control — Hold the Gain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Control Plan, A3 Summary, Handover, and Certification Readiness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Descriptive Statistics and Implementation Planning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Control Plan, A3 Summary, Handover, and Certification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Hold the gain. Build a control plan that names the metric, the target, the monitoring frequency, the owner and the reaction plan — then tell the whole improvement story on a single A3 page and hand it over.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plan, an A3 one-page summary, a handover checklist and a readiness plan.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Control plan, SPC thinking, visual management, A3 report, handover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Control Plan, A3 Summary, Handover, and Certification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the control plan: metric, target, monitoring method, frequency, owner, reaction plan.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Control Plan, A3 Summary, Handover, and Certification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the visual management approach — board, dashboard or huddle — that keeps it visible.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Control Plan, A3 Summary, Handover, and Certification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Specify the reaction plan: exactly what happens when a metric falls outside target.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Control Plan, A3 Summary, Handover, and Certification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A3 summary: background, current state, goal, analysis, countermeasures, results, follow-up.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Control Plan, A3 Summary, Handover, and Certification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Prepare the handover checklist so the process owner can sustain it without you.</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Control Plan, A3 Summary, Handover, and Certification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Complete your personal certification readiness plan — which topics need most 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Control Plan, A3 Summary, Handover, and Certification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control plan row has a named owner and a reaction plan, and your A3 fits on one page.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Descriptive Statistics and Implementation Planning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Close the loop. Compute the measures of central tendency and dispersion that describe your data, then convert the selected countermeasures into a dated implementation plan with owners and barriers identified.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descriptive statistics summary and a dated implementation plan.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Mean, median, range, standard deviation, implementation planning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Descriptive Statistics and Implementation Planning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Compute the mean and median for your assignment-time data and compare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Descriptive Statistics and Implementation Planning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Compute the range and standard deviation to describe the spread.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Descriptive Statistics and Implementation Planning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Explain what the mean-versus-median difference reveals about outliers and skew.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Descriptive Statistics and Implementation Planning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implementation plan: action, owner, date, barriers and mitigation.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Descriptive Statistics and Implementation Planning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the mean and median differ in your data, and every implementation action has an owner and a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Control — Hold the Gain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Recommend control actions to sustain process performance (A5)</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Summarise data numerically and plan the rollout (A4, A5)</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Define &amp; Scope</a:t>
            </a:r>
          </a:p>
          <a:p>
            <a:pPr algn="l">
              <a:spcAft>
                <a:spcPts val="300"/>
              </a:spcAft>
            </a:pPr>
            <a:r>
              <a:rPr sz="1300" b="0">
                <a:solidFill>
                  <a:srgbClr val="5B6372"/>
                </a:solidFill>
                <a:latin typeface="Arial"/>
              </a:rPr>
              <a:t>Define a project and establish the scope of work using Six Sigma's Define, Measure and Analyse phases.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Lean &amp; Six Sigma Concepts</a:t>
            </a:r>
          </a:p>
          <a:p>
            <a:pPr algn="l">
              <a:spcAft>
                <a:spcPts val="300"/>
              </a:spcAft>
            </a:pPr>
            <a:r>
              <a:rPr sz="1300" b="0">
                <a:solidFill>
                  <a:srgbClr val="5B6372"/>
                </a:solidFill>
                <a:latin typeface="Arial"/>
              </a:rPr>
              <a:t>Apply Lean and Six Sigma concepts — value, waste, defects and variation — to a work process.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Process Mapping</a:t>
            </a:r>
          </a:p>
          <a:p>
            <a:pPr algn="l">
              <a:spcAft>
                <a:spcPts val="300"/>
              </a:spcAft>
            </a:pPr>
            <a:r>
              <a:rPr sz="1300" b="0">
                <a:solidFill>
                  <a:srgbClr val="5B6372"/>
                </a:solidFill>
                <a:latin typeface="Arial"/>
              </a:rPr>
              <a:t>Map a process using SIPOC, process maps and value stream maps to expose handoffs and waste.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Data &amp; Analysis</a:t>
            </a:r>
          </a:p>
          <a:p>
            <a:pPr algn="l">
              <a:spcAft>
                <a:spcPts val="300"/>
              </a:spcAft>
            </a:pPr>
            <a:r>
              <a:rPr sz="1300" b="0">
                <a:solidFill>
                  <a:srgbClr val="5B6372"/>
                </a:solidFill>
                <a:latin typeface="Arial"/>
              </a:rPr>
              <a:t>Collect and analyse process data using check sheets, Pareto charts, run charts and basic metrics.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Root Cause Analysis</a:t>
            </a:r>
          </a:p>
          <a:p>
            <a:pPr algn="l">
              <a:spcAft>
                <a:spcPts val="300"/>
              </a:spcAft>
            </a:pPr>
            <a:r>
              <a:rPr sz="1300" b="0">
                <a:solidFill>
                  <a:srgbClr val="5B6372"/>
                </a:solidFill>
                <a:latin typeface="Arial"/>
              </a:rPr>
              <a:t>Identify root causes using 5 Whys, Fishbone analysis and evidence-based prioritisation.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Improve &amp; Control</a:t>
            </a:r>
          </a:p>
          <a:p>
            <a:pPr algn="l">
              <a:spcAft>
                <a:spcPts val="300"/>
              </a:spcAft>
            </a:pPr>
            <a:r>
              <a:rPr sz="1300" b="0">
                <a:solidFill>
                  <a:srgbClr val="5B6372"/>
                </a:solidFill>
                <a:latin typeface="Arial"/>
              </a:rPr>
              <a:t>Recommend improvement and control actions to sustain gains, and prepare for certification.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Continuing Your Lean Six Sigma Journey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Run a small improvement in your own workplace using the DMAIC roadmap and the templates from this course.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Progress towards Green Belt — deeper statistics, hypothesis testing and full project leadership.</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Build the habit: measure before you change, and verify the gain held after you did.</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Share the A3 one-pager with your team so the improvement is visible and sustained.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IMPROVE THE PROCESS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scope, measure, analyse, improve and control a real process improvement using the DMAIC roadmap.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